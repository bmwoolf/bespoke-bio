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6692ac81f4114" /><Relationship Type="http://schemas.openxmlformats.org/officeDocument/2006/relationships/extended-properties" Target="/docProps/app.xml" Id="R62da9b8c03b0410c" /><Relationship Type="http://schemas.openxmlformats.org/officeDocument/2006/relationships/officeDocument" Target="/ppt/presentation.xml" Id="R077abefc2608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25062a315e4789"/>
  </p:sldMasterIdLst>
  <p:notesMasterIdLst>
    <p:notesMasterId xmlns:r="http://schemas.openxmlformats.org/officeDocument/2006/relationships" r:id="Ra774b50022e84482"/>
  </p:notesMasterIdLst>
  <p:sldIdLst>
    <p:sldId xmlns:r="http://schemas.openxmlformats.org/officeDocument/2006/relationships" id="256" r:id="Rd16353ab7be24fcf"/>
    <p:sldId xmlns:r="http://schemas.openxmlformats.org/officeDocument/2006/relationships" id="257" r:id="R30266259ba83452e"/>
    <p:sldId xmlns:r="http://schemas.openxmlformats.org/officeDocument/2006/relationships" id="258" r:id="R3b5ecf5897a749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482dd017c4534" /><Relationship Type="http://schemas.openxmlformats.org/officeDocument/2006/relationships/slideMaster" Target="/ppt/slideMasters/slideMaster1.xml" Id="Rd725062a315e4789" /><Relationship Type="http://schemas.openxmlformats.org/officeDocument/2006/relationships/notesMaster" Target="/ppt/notesMasters/notesMaster1.xml" Id="Ra774b50022e84482" /><Relationship Type="http://schemas.openxmlformats.org/officeDocument/2006/relationships/presProps" Target="/ppt/presProps.xml" Id="R5fdba53c62f64011" /><Relationship Type="http://schemas.openxmlformats.org/officeDocument/2006/relationships/tableStyles" Target="/ppt/tableStyles.xml" Id="R817dbe2836524849" /><Relationship Type="http://schemas.openxmlformats.org/officeDocument/2006/relationships/slide" Target="/ppt/slides/slide1.xml" Id="Rd16353ab7be24fcf" /><Relationship Type="http://schemas.openxmlformats.org/officeDocument/2006/relationships/slide" Target="/ppt/slides/slide2.xml" Id="R30266259ba83452e" /><Relationship Type="http://schemas.openxmlformats.org/officeDocument/2006/relationships/slide" Target="/ppt/slides/slide3.xml" Id="R3b5ecf5897a749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47abbd8c9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dde8aee89c4d7e" /><Relationship Type="http://schemas.openxmlformats.org/officeDocument/2006/relationships/notesMaster" Target="/ppt/notesMasters/notesMaster1.xml" Id="R2c50dc463a7f45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acdfb7bb264bda" /><Relationship Type="http://schemas.openxmlformats.org/officeDocument/2006/relationships/notesMaster" Target="/ppt/notesMasters/notesMaster1.xml" Id="R2d65783a3dad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cac0920f164058" /><Relationship Type="http://schemas.openxmlformats.org/officeDocument/2006/relationships/notesMaster" Target="/ppt/notesMasters/notesMaster1.xml" Id="R9db5c203b70b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GitHub main 086484a and binder branch 95507e6 on 2026-10-17. Stage 1 precomputed HG002 export and independent replay are reported in main README and docs/stage-one.md. Raw DNA/RNA workflow adapters remain unqualified for full cases. Stage 2 implements exact-sequence lookup and folding adapters; do not claim every backend was run here. Current direct protein intake bypasses the CDS-based Step 2 API and accepts full sequences without automatic signal peptide trimming. BoltzGen supports sequence and structure inputs, with no specified epitope. The public PD-L1 runs establish pipeline execution, not measured binding. Uniqueness refers to deduplicated protein sequences, not experimentally established variant-specific binders. Selectivity against reference proteins or other targets is not established. No new binder run was performed for the supplied CCL26 JSON.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https://github.com/bmwoolf/bespoke-bio/blob/086484a/README.md</a:t>
            </a:r>
          </a:p>
          <a:p xmlns:a="http://schemas.openxmlformats.org/drawingml/2006/main">
            <a:r>
              <a:t>https://github.com/bmwoolf/bespoke-bio/blob/086484a/docs/stage-one.md</a:t>
            </a:r>
          </a:p>
          <a:p xmlns:a="http://schemas.openxmlformats.org/drawingml/2006/main">
            <a:r>
              <a:t>https://github.com/bmwoolf/bespoke-bio/blob/086484a/src/bespoke_bio/api.py</a:t>
            </a:r>
          </a:p>
          <a:p xmlns:a="http://schemas.openxmlformats.org/drawingml/2006/main">
            <a:r>
              <a:t>https://github.com/bmwoolf/bespoke-bio/blob/95507e6/docs/STATUS.md</a:t>
            </a:r>
          </a:p>
          <a:p xmlns:a="http://schemas.openxmlformats.org/drawingml/2006/main">
            <a:r>
              <a:t>https://github.com/bmwoolf/bespoke-bio/blob/95507e6/src/biocad/service.py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small pipeline smoke tests, not an estimate of binder hit rate. Structure-input run: 2 candidates, 1 passed, ipTM 0.3046 and 0.2925. Rejected candidate failed filter_rmsd at 2.6117 Å against the configured 2.5 Å threshold. Sequence-only HTTP run shown: 1 candidate, passed, complex recovery RMSD 0.8308 Å, binder-alone recovery 1.3318 Å, ipTM 0.4104, ESMFold2 minimum ipSAE 0.172. Managed shared-service run: 1 candidate, passed, ipTM 0.2009, ESMFold2 minimum ipSAE 0.0148; verified result download and worker deletion. Counts total 4 generated candidates and 3 native filter passes across 3 completed runs. Failed startup attempts are not included. No measured affinity, binding assay, reference-vs-variant specificity or off-target panel is available. CCL26 integration preparation did not perform inference. The image uses actual refolded predicted coordinates from binder_5c7000a0e62fb0de/complex.cif, rendered with Mol*: chain A 75 residues teal, chain B 115 residues orange. Geometry recovery tests whether refolding reproduces the design, not whether the proteins bind in a laboratory.</a:t>
            </a:r>
          </a:p>
          <a:p xmlns:a="http://schemas.openxmlformats.org/drawingml/2006/main">
            <a:r>
              <a:t>Sources: https://github.com/bmwoolf/bespoke-bio/blob/95507e6/examples/boltzgen_results/summary.json</a:t>
            </a:r>
          </a:p>
          <a:p xmlns:a="http://schemas.openxmlformats.org/drawingml/2006/main">
            <a:r>
              <a:t>https://github.com/bmwoolf/bespoke-bio/blob/95507e6/examples/boltzgen_api_results/summary.json</a:t>
            </a:r>
          </a:p>
          <a:p xmlns:a="http://schemas.openxmlformats.org/drawingml/2006/main">
            <a:r>
              <a:t>https://github.com/bmwoolf/bespoke-bio/blob/95507e6/examples/shared_service_smoke/summary.json</a:t>
            </a:r>
          </a:p>
          <a:p xmlns:a="http://schemas.openxmlformats.org/drawingml/2006/main">
            <a:r>
              <a:t>https://github.com/bmwoolf/bespoke-bio/blob/95507e6/examples/boltzgen_api_results/bundle/binder_5c7000a0e62fb0de/complex.cif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User-proposed future concept: the entire loop operates in the field. A soldier or medic provides a sample; edge omics sensing sends a compact reference-linked report to local field computing; analysis informs bespoke peptide synthesis or formulation in a portable field lab; delivery to the medic enables treatment and reassessment, feeding back into the loop. On-the-fly bespoke synthesis is the intended capability, not a demonstrated current clinical capability. New treatments require efficacy, safety, clinical review and manufacturing quality validation. The current project has demonstrated computational pipeline operation, not this field medical system. Figure is a conceptual diagram, not actual equipment. Foldseek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c53348cc44a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3acdd5cba48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799aa8a1c48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b57a47b5f4d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0e58fb3f649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f49fddf044a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2EF54D-B364-418E-BCA1-435044375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8BCC73-0DDC-4A8C-ADBD-06D1F67BA1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03F0BF-8BB5-4D82-8970-84FC14291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505CB8-A8A7-41A7-B1F5-5AEA4AE91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9D334C-6E98-4C20-B7D6-ACC96094DB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E64409-6373-4C22-9AFD-D5EBDC3B1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02C748-3016-4D89-B81D-C86180BAD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0AF102-A7DA-4C8D-8230-61BF1111AB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4AC28-ADC4-4016-B7E4-95A10C7CE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8DB976-C793-4FF7-92EA-E9239656A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173e449b3e4938" /><Relationship Type="http://schemas.openxmlformats.org/officeDocument/2006/relationships/slideLayout" Target="/ppt/slideLayouts/slideLayout1.xml" Id="Reaeff6c526f7477f" /><Relationship Type="http://schemas.openxmlformats.org/officeDocument/2006/relationships/slideLayout" Target="/ppt/slideLayouts/slideLayout2.xml" Id="Ra729248198864a84" /><Relationship Type="http://schemas.openxmlformats.org/officeDocument/2006/relationships/slideLayout" Target="/ppt/slideLayouts/slideLayout3.xml" Id="Rec67d26fca124907" /><Relationship Type="http://schemas.openxmlformats.org/officeDocument/2006/relationships/slideLayout" Target="/ppt/slideLayouts/slideLayout4.xml" Id="R24628cb697284dc3" /><Relationship Type="http://schemas.openxmlformats.org/officeDocument/2006/relationships/slideLayout" Target="/ppt/slideLayouts/slideLayout5.xml" Id="R6bc3da8be2b54967" /><Relationship Type="http://schemas.openxmlformats.org/officeDocument/2006/relationships/slideLayout" Target="/ppt/slideLayouts/slideLayout6.xml" Id="R58733c52b5a64c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ff6c526f7477f"/>
    <p:sldLayoutId xmlns:r="http://schemas.openxmlformats.org/officeDocument/2006/relationships" id="2147483650" r:id="Ra729248198864a84"/>
    <p:sldLayoutId xmlns:r="http://schemas.openxmlformats.org/officeDocument/2006/relationships" id="2147483651" r:id="Rec67d26fca124907"/>
    <p:sldLayoutId xmlns:r="http://schemas.openxmlformats.org/officeDocument/2006/relationships" id="2147483652" r:id="R24628cb697284dc3"/>
    <p:sldLayoutId xmlns:r="http://schemas.openxmlformats.org/officeDocument/2006/relationships" id="2147483653" r:id="R6bc3da8be2b54967"/>
    <p:sldLayoutId xmlns:r="http://schemas.openxmlformats.org/officeDocument/2006/relationships" id="2147483654" r:id="R58733c52b5a64c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394337a424dd6" /><Relationship Type="http://schemas.openxmlformats.org/officeDocument/2006/relationships/notesSlide" Target="/ppt/notesSlides/notesSlide1.xml" Id="Rf1b66586fa8d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234d07d874155" /><Relationship Type="http://schemas.openxmlformats.org/officeDocument/2006/relationships/image" Target="/ppt/media/image.png" Id="R78833b0423184958" /><Relationship Type="http://schemas.openxmlformats.org/officeDocument/2006/relationships/notesSlide" Target="/ppt/notesSlides/notesSlide2.xml" Id="R1d2591e2f28647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0040aabe34f64" /><Relationship Type="http://schemas.openxmlformats.org/officeDocument/2006/relationships/notesSlide" Target="/ppt/notesSlides/notesSlide3.xml" Id="Rfa049519bbdc4f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BA254-F526-4E87-A652-2FC79264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Bio: current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F8EA-614B-4170-9525-9CEB507E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Personalized protein sequences and computational binder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77FB5-0067-42EA-8E86-BC7B65F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050B-78D3-41A4-AB88-FAAA442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Evidence to proteins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D964A-CC3C-45B7-9720-2FF944B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Resolve supported alleles from variant evidence. Translate complete protein sequences and retain donor / transcript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91D78-8114-4B88-AAC8-4C670195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protein JSON + FASTA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0F500-513C-46BB-90B8-D0DEB2B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1DCB6-A6A3-46AA-82BE-27E50083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4FB64-1F48-4B50-8A19-CEE0715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Reuse exact matching structures or predict each unique sequence with Boltz-2, ESMFold or OpenFold.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B3EB7-1FD0-4B50-9649-4BE64C84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structures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B25FD-5298-4A2C-9EDF-639CDD9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DEA67-D101-4A12-A337-88A7521E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Binder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773C4-07BD-43FB-A725-D580395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BoltzGen generates candidate binders, predicts complexes and evaluates folding and interface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9CB81-85A3-48C5-9BE1-632AD37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sequences + ranked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1B406-0A46-4769-BC18-366C8712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Live shortcut: protein JSON can enter the binder API directly, without a separate folding job.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1BFAD-A8D2-4D69-84CF-5E1B31D2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Verified: HG002 protein export and public-target binder runs. Raw-read qualification and variant selectivity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13954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992B3-EB1E-4C59-AC55-7EC4A47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PD-L1 binder tests: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CD7E1-B6DB-4AF0-80BE-856F3F1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Three completed BoltzGen GPU runs, four candidate binders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8CA2F-A614-4968-85FB-679887D8F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33b0423184958"/>
          <a:stretch xmlns:a="http://schemas.openxmlformats.org/drawingml/2006/main"/>
        </p:blipFill>
        <p:spPr>
          <a:xfrm xmlns:a="http://schemas.openxmlformats.org/drawingml/2006/main">
            <a:off x="991277" y="1847850"/>
            <a:ext cx="420869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19FB1-C575-48B5-B87D-960414C4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56615"/>
                </a:solidFill>
                <a:latin typeface="Arial"/>
                <a:ea typeface="Arial"/>
                <a:cs typeface="Arial"/>
              </a:rPr>
              <a:t>PD-L1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D5480-66E9-484C-B5FF-DDE21E16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Designed binder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83AA7-F534-4B3A-99DD-9C9A1AD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 complex from the sequence-only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96A99-E813-4B79-867A-21524DC3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28B6C-3F80-40E8-8B66-686EB05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All seven pipeline stages completed. The shared API also downloaded results and deleted its GPU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FD68F-21E9-44DE-90F1-EEBF57F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passed /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80D17-524E-4D92-966F-86F320FE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 of 4 passed native filters. One refolded too far from its design: RMSD 2.61 Å (limit 2.5 Å).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72E07-8BAB-45F6-9389-C44863A4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remains unproven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5490D-4041-4279-AE62-0A73E41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Interface confidence was low to modest (ipTM 0.20–0.41). Binding, affinity and variant selectivity need validation.</a:t>
            </a:r>
          </a:p>
        </p:txBody>
      </p:sp>
    </p:spTree>
    <p:extLst>
      <p:ext uri="{BB962C8B-B14F-4D97-AF65-F5344CB8AC3E}">
        <p14:creationId xmlns:p14="http://schemas.microsoft.com/office/powerpoint/2010/main" val="1784308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F6D4AA-91A6-4FD6-BA44-12DC599B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6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Vision: field care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8267E-9B93-4DC0-9868-45B640E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847850"/>
            <a:ext cx="1476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F6ABA-A2D9-4898-A9BB-4DF57F96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847850"/>
            <a:ext cx="1476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213E0-0557-4023-B0C4-07E3208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96500" y="352425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E6A7-8C87-4292-BDE0-EF10988F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191125" y="5334000"/>
            <a:ext cx="2905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B7F1A-B3DC-4DFD-A669-A119817A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19125" y="352425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DF269-BFF1-467A-9405-60E5ADC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1352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0F12D-D866-4E77-9754-B3DDD3D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43038" y="1909763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F57E8-86FA-49FC-85FA-C4988C2F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9153">
            <a:off x="1364406" y="1871663"/>
            <a:ext cx="3382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1F010-0FCD-402B-9A81-39C0171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3903">
            <a:off x="1659536" y="1852613"/>
            <a:ext cx="3194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8465A-A63A-43F6-877C-E4E032B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42756">
            <a:off x="1344672" y="2319338"/>
            <a:ext cx="425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DFD35-C3E3-4AED-9BB3-89C29E18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72988">
            <a:off x="1588768" y="2319338"/>
            <a:ext cx="4419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1214B-EA1C-475E-9605-E360C7E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1352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66CDF-61D2-4F58-8755-C5B07C0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43138" y="1909763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31206-206C-4A99-B589-E99CE93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9153">
            <a:off x="2164506" y="1871663"/>
            <a:ext cx="3382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E9023-7E05-41D8-97C8-2FC7AC5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3903">
            <a:off x="2459636" y="1852613"/>
            <a:ext cx="3194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BD662-040C-40F1-B980-7E3D768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42756">
            <a:off x="2144772" y="2319338"/>
            <a:ext cx="425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8FD0A-88BA-47E1-89CA-F31E03BF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72988">
            <a:off x="2388868" y="2319338"/>
            <a:ext cx="4419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3F84C-B868-45A0-9BB3-33AEB9BB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1762125"/>
            <a:ext cx="285750" cy="3619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4E4E9-0165-47CB-83C5-B1A2228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1943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5DED7-CCDF-40E2-B5F7-654A4E31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38450" y="19431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A40EC-5E4A-4BAE-9C79-8751506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647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Soldier + medic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FD49E-6F88-4743-935A-5768068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238250"/>
            <a:ext cx="723900" cy="11811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3423E-4F89-4A6C-8585-F16B7AED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1381125"/>
            <a:ext cx="457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3F24C-31C8-407D-AC57-BBC6B5E0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124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B0EBF-E4A9-4774-BD08-4CFA8DC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1647825"/>
            <a:ext cx="190500" cy="7334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DCFBD-C8B5-4E3A-8CBA-5AE4C67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2009775"/>
            <a:ext cx="19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6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7A269-FCD1-4A71-A53F-0BDD4B5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57162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3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056909-3941-4CE8-AEB4-C490956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647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D1C46C-C5F5-43C8-A3E0-8CFB276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0099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Compact omics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0B7AC-8A55-47C3-B605-6127B7B8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3525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5D6F5-B939-4F28-835D-6FADD60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1457325"/>
            <a:ext cx="1409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EFB01-32A9-4A9B-B0AB-C4A5BC52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25" y="24384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ECCE3-CCB3-4464-9F85-FE7BBC6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6383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912007-813A-492F-AED7-BC15FE0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638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78D540-7C9A-4098-8B8F-4B206C2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828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D0EB8-2005-4721-A60D-A642FAAC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828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DDB0F-D0FB-4536-8E41-A94E3A0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20193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4AAA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3E4EEB-AE88-44D1-8875-F531CE5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2019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2D3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B75CB7-2F34-446E-817B-E479EED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2647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Analyze locally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5D4AB2-E56B-47C4-9823-C43BEEF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52942">
            <a:off x="8209778" y="4414838"/>
            <a:ext cx="14398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4A2433-D6EE-4334-A7EE-2578BFE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0711">
            <a:off x="9404403" y="4414838"/>
            <a:ext cx="14794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25ACB8-FF4A-456A-A248-646137D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86700" y="5267325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BA3FE-4B22-4CA4-A3E8-445B43F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15575" y="5267325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876AA5-7D65-46B4-970D-10F9B00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715000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B459C9-ED2A-41A7-A6B3-631B5255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4886325"/>
            <a:ext cx="1190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9C67A5-CD64-436C-BE5E-A0B4B47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5057775"/>
            <a:ext cx="647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28AEA5-FCA5-43F2-83AD-E33852A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7D4C9-3426-4C5A-AFB9-5BFD9DA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523875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5C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7034AD-9742-4DE1-BA06-34599B0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516255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3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A3B274-F84A-42DF-A7D8-8613A768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523875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AA5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B9D673-BCA7-4186-AD6A-B012B02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516255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3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4DD523-2BF8-4073-85C5-551F140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5238750"/>
            <a:ext cx="133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4A7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96E8B2-FF03-4DCE-855A-4425906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450" y="516255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3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6665A9-C63F-414C-92B0-49FADBF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5886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Synthesize in field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24C08F-8934-402D-9C49-1369D08F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455295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9B5A66-9CFD-472D-A350-99302B27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4457700"/>
            <a:ext cx="3810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9135D5-EBFD-43EB-A663-03B5007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4457700"/>
            <a:ext cx="3810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B201A6-3BD1-49F8-B2BB-FEFF570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552950"/>
            <a:ext cx="5143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62C4A3-D8F1-406A-8AEC-46492A33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51267">
            <a:off x="2331376" y="4872038"/>
            <a:ext cx="214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B5E8C9-4E05-4F61-ACDC-95C28E2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48733">
            <a:off x="2712376" y="4872038"/>
            <a:ext cx="214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D9C294-78A7-42FE-B919-959C1E8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5019675"/>
            <a:ext cx="23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4A7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EFF28D-F6EF-441C-9EEA-8D6981B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7110D6-7D79-4751-960C-37EC15F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95713" y="5081588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69873A-AC32-4E57-8287-54C7264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9153">
            <a:off x="3717081" y="5043488"/>
            <a:ext cx="3382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7F5BB4-A8BF-4A37-8F3D-3B36273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3903">
            <a:off x="4012211" y="5024438"/>
            <a:ext cx="3194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84CCAE-B5C9-4FE4-B990-23F9D46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42756">
            <a:off x="3697347" y="5491163"/>
            <a:ext cx="425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506C69-AA7F-4F3D-8621-E008F6CC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72988">
            <a:off x="3941443" y="5491163"/>
            <a:ext cx="4419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DCD7C8-DE0F-4BD2-B32A-BEC311B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4933950"/>
            <a:ext cx="285750" cy="3619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32D3B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6A8386-1E7A-45F0-B603-15FD6BE6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51149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CFDA349-B60F-4997-A946-21C9C09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91025" y="51149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AAA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AF90BA-8524-4119-A16C-D3DF103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88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 + reassess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0D818F-2C03-4FF5-91DC-537F2116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743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On-the-fly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FCB6EF-1BEC-44DC-BA58-4882BDE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41719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8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synthesis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1A5F3B-3F9E-435E-AAFA-032744C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4865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1435449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2026-10-18T17:23:05.7770000Z</dcterms:created>
  <dcterms:modified xsi:type="dcterms:W3CDTF">2026-10-18T17:23:05.7770000Z</dcterms:modified>
</coreProperties>
</file>